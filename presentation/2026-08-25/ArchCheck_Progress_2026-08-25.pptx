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8288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F3A5F"/>
                </a:solidFill>
                <a:latin typeface="Calibri" panose="020F0502020204030204"/>
              </a:rPr>
              <a:t>Semantic Knowledge Base Search</a:t>
            </a:r>
            <a:endParaRPr sz="44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0160" y="29260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555555"/>
                </a:solidFill>
                <a:latin typeface="Calibri" panose="020F0502020204030204"/>
              </a:rPr>
              <a:t>From keyword matching to meaning-based retrieval</a:t>
            </a:r>
            <a:endParaRPr sz="2600" b="1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Before: Keyword Search Had Three Hard Limits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22222"/>
                </a:solidFill>
                <a:latin typeface="Calibri" panose="020F0502020204030204"/>
              </a:rPr>
              <a:t>Synonym blind</a:t>
            </a:r>
            <a:endParaRPr sz="24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2100" b="0">
                <a:solidFill>
                  <a:srgbClr val="222222"/>
                </a:solidFill>
                <a:latin typeface="Calibri" panose="020F0502020204030204"/>
              </a:rPr>
              <a:t>• searching “escape” misses clauses written as “evacuation”</a:t>
            </a:r>
            <a:endParaRPr sz="21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22222"/>
                </a:solidFill>
                <a:latin typeface="Calibri" panose="020F0502020204030204"/>
              </a:rPr>
              <a:t>No cross-lingual</a:t>
            </a:r>
            <a:endParaRPr sz="24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2100" b="0">
                <a:solidFill>
                  <a:srgbClr val="222222"/>
                </a:solidFill>
                <a:latin typeface="Calibri" panose="020F0502020204030204"/>
              </a:rPr>
              <a:t>• querying “exit” never matches the Chinese “出口”</a:t>
            </a:r>
            <a:endParaRPr sz="21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222222"/>
                </a:solidFill>
                <a:latin typeface="Calibri" panose="020F0502020204030204"/>
              </a:rPr>
              <a:t>No natural language</a:t>
            </a:r>
            <a:endParaRPr sz="24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2100" b="0">
                <a:solidFill>
                  <a:srgbClr val="222222"/>
                </a:solidFill>
                <a:latin typeface="Calibri" panose="020F0502020204030204"/>
              </a:rPr>
              <a:t>• you can only type keywords, not ask a real question</a:t>
            </a:r>
            <a:endParaRPr sz="2100"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This Week ① — Semantic Search Launched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607040" cy="78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22222"/>
                </a:solidFill>
                <a:latin typeface="Calibri" panose="020F0502020204030204"/>
              </a:rPr>
              <a:t>Every code clause → a 1024-dim vector; </a:t>
            </a:r>
            <a:endParaRPr sz="2000" b="1">
              <a:solidFill>
                <a:srgbClr val="222222"/>
              </a:solidFill>
              <a:latin typeface="Calibri" panose="020F0502020204030204"/>
            </a:endParaRPr>
          </a:p>
          <a:p>
            <a:pPr algn="l">
              <a:spcAft>
                <a:spcPts val="600"/>
              </a:spcAft>
            </a:pPr>
            <a:r>
              <a:rPr lang="en-US" sz="2000" b="1">
                <a:solidFill>
                  <a:srgbClr val="222222"/>
                </a:solidFill>
                <a:latin typeface="Calibri" panose="020F0502020204030204"/>
              </a:rPr>
              <a:t>then </a:t>
            </a:r>
            <a:r>
              <a:rPr sz="2000" b="1">
                <a:solidFill>
                  <a:srgbClr val="222222"/>
                </a:solidFill>
                <a:latin typeface="Calibri" panose="020F0502020204030204"/>
              </a:rPr>
              <a:t>a question finds the semantically nearest clause — meaning, not wording.</a:t>
            </a:r>
            <a:endParaRPr sz="2000" b="1">
              <a:solidFill>
                <a:srgbClr val="222222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331720"/>
          <a:ext cx="106070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10896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l"/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Choice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Why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Model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 bge-m3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free, multilingual, zh–en aligned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Runtime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ONNX CPU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runs on any laptop, no GPU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Corpus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1,590 chunks 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from existed knowledge base</a:t>
                      </a:r>
                      <a:endParaRPr lang="en-US"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1060" y="3977639"/>
            <a:ext cx="106070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3A5F"/>
                </a:solidFill>
                <a:latin typeface="Calibri" panose="020F0502020204030204"/>
              </a:rPr>
              <a:t>results </a:t>
            </a:r>
            <a:endParaRPr sz="1800" b="1">
              <a:solidFill>
                <a:srgbClr val="1F3A5F"/>
              </a:solidFill>
              <a:latin typeface="Calibri" panose="020F050202020403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5955" y="4358005"/>
          <a:ext cx="10989310" cy="2381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070"/>
                <a:gridCol w="4358005"/>
                <a:gridCol w="4547235"/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Capability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Question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Hit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Synonym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“escape stair width”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CN evacuation stairs + SG “1.5m in width”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Cross-lingual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“how wide should escape stairs be”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SG Fire Code clause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Natural language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“Can gas pipes run in a residential stairwell?”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CN gas-pipe clause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Concrete scene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“Exits needed for an underground car park?”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CN car park + exit clauses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Indirect / alias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“room at a corridor dead-end”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CN dead-end-room clause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This Week ② — How Well Does It Work? (Measured honestly)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55555"/>
                </a:solidFill>
                <a:latin typeface="Calibri" panose="020F0502020204030204"/>
              </a:rPr>
              <a:t>How we tested: 63 questions — 55 that the knowledge base should answer, plus 8 on topics it does NOT cover (to verify it won't fabricate answers). </a:t>
            </a:r>
            <a:endParaRPr sz="1600" b="1">
              <a:solidFill>
                <a:srgbClr val="555555"/>
              </a:solidFill>
              <a:latin typeface="Calibri" panose="020F050202020403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901952"/>
          <a:ext cx="106070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0940"/>
                <a:gridCol w="606298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Metric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What it means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Result (55 questions)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P1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The very first result is the correct clause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67%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P3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The correct clause appears somewhere in the first 3 results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84%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Recall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Share of the clauses that should be found that actually were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84%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F1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One combined score of accuracy and completeness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75%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Document-level (looser test)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Only the right document was found — the exact clause may be wrong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91%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715" y="4221480"/>
            <a:ext cx="11233150" cy="1120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 panose="020F0502020204030204"/>
              </a:rPr>
              <a:t>Finding the document ≠ finding the clause</a:t>
            </a:r>
            <a:endParaRPr sz="16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91% only means the right code book was found (e.g. GB 55037); 67% means the exact sentence. 67% is the honest number.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715" y="4817745"/>
            <a:ext cx="10789285" cy="1080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 panose="020F0502020204030204"/>
              </a:rPr>
              <a:t>Not a replacement for keyword search</a:t>
            </a:r>
            <a:endParaRPr sz="16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A standard keyword method (BM25) scored 71%, close to ours. Semantic search wins on synonyms, cross-language and natural wording — so we keep both.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715" y="5713730"/>
            <a:ext cx="10889615" cy="906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22222"/>
                </a:solidFill>
                <a:latin typeface="Calibri" panose="020F0502020204030204"/>
              </a:rPr>
              <a:t>Anti-fabrication guard</a:t>
            </a:r>
            <a:endParaRPr sz="16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On the 8 questions outside the knowledge base, confident-but-wrong answers fell from 8/8 to 4/8, and no correct answer was ever blocked (0/55).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8288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3A5F"/>
                </a:solidFill>
                <a:latin typeface="Calibri" panose="020F0502020204030204"/>
              </a:rPr>
              <a:t>The Road to Production-Ready Compliance Checking</a:t>
            </a:r>
            <a:endParaRPr sz="4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0160" y="3017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555555"/>
                </a:solidFill>
                <a:latin typeface="Calibri" panose="020F0502020204030204"/>
              </a:rPr>
              <a:t>A 6-tier industry-standard roadmap · progress &amp; next steps</a:t>
            </a:r>
            <a:endParaRPr sz="2400" b="1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5795" y="320040"/>
            <a:ext cx="10875645" cy="802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The Roadmap at a Glance — 6 Tiers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8165" y="1052195"/>
          <a:ext cx="10950575" cy="4640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910"/>
                <a:gridCol w="3775710"/>
                <a:gridCol w="3493135"/>
                <a:gridCol w="1226820"/>
              </a:tblGrid>
              <a:tr h="4546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Tier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Done (this week)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 (next)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Progress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 · IFC reading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spaces · doors · structure · MEP · electrical read; exact area / volume / material; mixed-unit fix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connections · distribution systems · openings · quantity sets · profile shapes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~70%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7797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 · Quality validation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QA 4 checks (units / spaces / geometry / boundaries); honest “not checked / area unknown”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IDS parser + semantic validation (missing attributes, wrong classification)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~40%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3 · Geometry &amp; quantities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exact area (triangle projection) · exact volume · material take-off · basic clash pre-check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boolean operations (CSG kernel) · swept solids · exact sections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~85%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4 · Clash &amp; coordination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MEP vs structure bbox + point-in-mesh confirmation (real vs bbox noise)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full-discipline clash · clear-height checks · grading (hard / soft / clearance)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early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53213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5 · Rules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5 disciplines · 16 rules (CN + SG) · clause → rule tool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16 → 50+ (fire / egress / MEP) · context &amp; exceptions · cross-rule linkage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~15%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780415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6 · Delivery &amp; trust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BCF 2.1 · COBie CSV · HTML/Excel/PNG · 4 samples run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BCF viewpoints · fuller COBie · IFC with annotations · 10+ real projects · benchmark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~35%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64860"/>
            <a:ext cx="1060704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 panose="020F0502020204030204"/>
              </a:rPr>
              <a:t>Foundation built: precise geometry + real samples + multi-discipline rules + delivery formats </a:t>
            </a:r>
            <a:endParaRPr sz="2000" b="1">
              <a:solidFill>
                <a:srgbClr val="1F3A5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  <a:latin typeface="Calibri" panose="020F0502020204030204"/>
              </a:rPr>
              <a:t>This Week's Breakthrough — Precise Geometry &amp; Quantities (Tier ③)</a:t>
            </a:r>
            <a:endParaRPr sz="27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043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97305"/>
            <a:ext cx="106070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Exact area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triangle projection replaces convex hull — </a:t>
            </a:r>
            <a:r>
              <a:rPr lang="en-US" sz="1600" b="0">
                <a:solidFill>
                  <a:srgbClr val="222222"/>
                </a:solidFill>
                <a:latin typeface="Calibri" panose="020F0502020204030204"/>
              </a:rPr>
              <a:t>previously</a:t>
            </a: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L-shaped room 36 → 27 m²,</a:t>
            </a:r>
            <a:r>
              <a:rPr lang="en-US" sz="1600" b="0">
                <a:solidFill>
                  <a:srgbClr val="222222"/>
                </a:solidFill>
                <a:latin typeface="Calibri" panose="020F0502020204030204"/>
              </a:rPr>
              <a:t> now</a:t>
            </a: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 no over-estimate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264918"/>
            <a:ext cx="106070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Exact volume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signed-tetrahedron — office_3f slab 96.9 m³ </a:t>
            </a:r>
            <a:r>
              <a:rPr lang="en-US" sz="1600" b="0">
                <a:solidFill>
                  <a:srgbClr val="222222"/>
                </a:solidFill>
                <a:latin typeface="Calibri" panose="020F0502020204030204"/>
              </a:rPr>
              <a:t>/ </a:t>
            </a: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Schependomlaan structural total 287.4 m³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3262376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Material &amp; quantity take-off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per-material volume + per-type counts → “structural quantities by material”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4151249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Mixed-unit repair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models declared in mm but modelled in metres auto-corrected (Schependomlaan)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5039487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Basic clash pre-check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MEP vs structure bbox + point-in-mesh confirmation — real penetration, not bbox noise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Next Steps — Consolidated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E6B3C"/>
                </a:solidFill>
                <a:latin typeface="Calibri" panose="020F0502020204030204"/>
              </a:rPr>
              <a:t>Knowledge-base search</a:t>
            </a:r>
            <a:endParaRPr sz="2100" b="1">
              <a:solidFill>
                <a:srgbClr val="1E6B3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212080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22222"/>
                </a:solidFill>
                <a:latin typeface="Calibri" panose="020F0502020204030204"/>
              </a:rPr>
              <a:t>1.  Attack hard queries</a:t>
            </a:r>
            <a:endParaRPr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b="0">
                <a:solidFill>
                  <a:srgbClr val="222222"/>
                </a:solidFill>
                <a:latin typeface="Calibri" panose="020F0502020204030204"/>
              </a:rPr>
              <a:t>• query rewriting / domain aliases — hard-query hit rate is now 45%</a:t>
            </a:r>
            <a:endParaRPr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35808"/>
            <a:ext cx="5212080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22222"/>
                </a:solidFill>
                <a:latin typeface="Calibri" panose="020F0502020204030204"/>
              </a:rPr>
              <a:t>2.  Cross-code retrieval</a:t>
            </a:r>
            <a:endParaRPr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b="0">
                <a:solidFill>
                  <a:srgbClr val="222222"/>
                </a:solidFill>
                <a:latin typeface="Calibri" panose="020F0502020204030204"/>
              </a:rPr>
              <a:t>• route by CN / SG, or split the query — cross-code recovery is 33%</a:t>
            </a:r>
            <a:endParaRPr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059936"/>
            <a:ext cx="5212080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22222"/>
                </a:solidFill>
                <a:latin typeface="Calibri" panose="020F0502020204030204"/>
              </a:rPr>
              <a:t>3.  Stronger guard</a:t>
            </a:r>
            <a:endParaRPr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b="0">
                <a:solidFill>
                  <a:srgbClr val="222222"/>
                </a:solidFill>
                <a:latin typeface="Calibri" panose="020F0502020204030204"/>
              </a:rPr>
              <a:t>• top1−top2 score margin — no false rejects so far (0/55)</a:t>
            </a:r>
            <a:endParaRPr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084064"/>
            <a:ext cx="5212080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22222"/>
                </a:solidFill>
                <a:latin typeface="Calibri" panose="020F0502020204030204"/>
              </a:rPr>
              <a:t>4.  Grow the gold standard</a:t>
            </a:r>
            <a:endParaRPr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b="0">
                <a:solidFill>
                  <a:srgbClr val="222222"/>
                </a:solidFill>
                <a:latin typeface="Calibri" panose="020F0502020204030204"/>
              </a:rPr>
              <a:t>• keep adding test queries as the knowledge base grows</a:t>
            </a:r>
            <a:endParaRPr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F3A5F"/>
                </a:solidFill>
                <a:latin typeface="Calibri" panose="020F0502020204030204"/>
              </a:rPr>
              <a:t>Platform — 6-tier roadmap</a:t>
            </a:r>
            <a:endParaRPr sz="21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5212080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22222"/>
                </a:solidFill>
                <a:latin typeface="Calibri" panose="020F0502020204030204"/>
              </a:rPr>
              <a:t>1.  Rule expansion</a:t>
            </a:r>
            <a:endParaRPr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b="0">
                <a:solidFill>
                  <a:srgbClr val="222222"/>
                </a:solidFill>
                <a:latin typeface="Calibri" panose="020F0502020204030204"/>
              </a:rPr>
              <a:t>• 16 → 50+ rules, fire / egress / MEP first (2–3 wks)</a:t>
            </a:r>
            <a:endParaRPr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3035808"/>
            <a:ext cx="5212080" cy="721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22222"/>
                </a:solidFill>
                <a:latin typeface="Calibri" panose="020F0502020204030204"/>
              </a:rPr>
              <a:t>2.  IDS quality checking</a:t>
            </a:r>
            <a:endParaRPr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b="0">
                <a:solidFill>
                  <a:srgbClr val="222222"/>
                </a:solidFill>
                <a:latin typeface="Calibri" panose="020F0502020204030204"/>
              </a:rPr>
              <a:t>• subset parser + semantic validation (1–2 wks)</a:t>
            </a:r>
            <a:endParaRPr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4059936"/>
            <a:ext cx="5212080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22222"/>
                </a:solidFill>
                <a:latin typeface="Calibri" panose="020F0502020204030204"/>
              </a:rPr>
              <a:t>3.  Clash deepening</a:t>
            </a:r>
            <a:endParaRPr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b="0">
                <a:solidFill>
                  <a:srgbClr val="222222"/>
                </a:solidFill>
                <a:latin typeface="Calibri" panose="020F0502020204030204"/>
              </a:rPr>
              <a:t>• full-discipline clash + clear-height + grading (2 wks)</a:t>
            </a:r>
            <a:endParaRPr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9360" y="5084064"/>
            <a:ext cx="5212080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b="1">
                <a:solidFill>
                  <a:srgbClr val="222222"/>
                </a:solidFill>
                <a:latin typeface="Calibri" panose="020F0502020204030204"/>
              </a:rPr>
              <a:t>4.  Delivery</a:t>
            </a:r>
            <a:endParaRPr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b="0">
                <a:solidFill>
                  <a:srgbClr val="222222"/>
                </a:solidFill>
                <a:latin typeface="Calibri" panose="020F0502020204030204"/>
              </a:rPr>
              <a:t>• BCF viewpoints · fuller COBie · 10+ real projects (1–2 wks)</a:t>
            </a:r>
            <a:endParaRPr b="0">
              <a:solidFill>
                <a:srgbClr val="222222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6*359"/>
  <p:tag name="TABLE_ENDDRAG_RECT" val="43*88*856*35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4706</Words>
  <Application>WPS 演示</Application>
  <PresentationFormat>On-screen Show (4:3)</PresentationFormat>
  <Paragraphs>240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Radiant</cp:lastModifiedBy>
  <cp:revision>24</cp:revision>
  <dcterms:created xsi:type="dcterms:W3CDTF">2013-01-27T09:14:00Z</dcterms:created>
  <dcterms:modified xsi:type="dcterms:W3CDTF">2026-08-25T11:57:17Z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194DF107CEB244BEA921530C04973D20_12</vt:lpwstr>
  </property>
  <property fmtid="{D5CDD505-2E9C-101B-9397-08002B2CF9AE}" pid="3" name="KSOProductBuildVer">
    <vt:lpwstr>2052-12.1.0.28043</vt:lpwstr>
  </property>
</Properties>
</file>