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9202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F3A5F"/>
                </a:solidFill>
                <a:latin typeface="Calibri" panose="020F0502020204030204"/>
              </a:rPr>
              <a:t>Semantic Knowledge Base Search</a:t>
            </a:r>
            <a:endParaRPr sz="44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555555"/>
                </a:solidFill>
                <a:latin typeface="Calibri" panose="020F0502020204030204"/>
              </a:rPr>
              <a:t>From keyword matching to meaning-based retrieval</a:t>
            </a:r>
            <a:endParaRPr sz="2600" b="1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160" y="5120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55555"/>
                </a:solidFill>
                <a:latin typeface="Calibri" panose="020F0502020204030204"/>
              </a:rPr>
              <a:t>ArchCheck · 2026-08-25</a:t>
            </a:r>
            <a:endParaRPr sz="18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Before: Keyword Search Had Three Hard Limits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Synonym blind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searching “escape” misses clauses written as “evacuation”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No cross-lingual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querying “exit” never matches the Chinese “出口”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No natural language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you can only type keywords, not ask a real question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03030"/>
                </a:solidFill>
                <a:latin typeface="Calibri" panose="020F0502020204030204"/>
              </a:rPr>
              <a:t>The knowledge base held the answers — users just couldn't reach them.</a:t>
            </a:r>
            <a:endParaRPr sz="2200" b="1">
              <a:solidFill>
                <a:srgbClr val="B0303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This Week ① — Semantic Search Launched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 panose="020F0502020204030204"/>
              </a:rPr>
              <a:t>Every code clause → a 1024-dim vector; a question finds the semantically nearest clause — meaning, not wording.</a:t>
            </a:r>
            <a:endParaRPr sz="2000" b="1">
              <a:solidFill>
                <a:srgbClr val="222222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3172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108960"/>
                <a:gridCol w="621792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Choice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Why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Model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BAAI / bge-m3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free, multilingual, zh–en aligned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Runtime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ONNX CPU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runs on any laptop, no GPU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Corpus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1,590 chunks / 6 codes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 CN + 5 SG, all free documents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977639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 panose="020F0502020204030204"/>
              </a:rPr>
              <a:t>Real results (run live, not illustrative)</a:t>
            </a:r>
            <a:endParaRPr sz="1800" b="1">
              <a:solidFill>
                <a:srgbClr val="1F3A5F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4348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Capability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Question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Hit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Synonym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“escape stair width”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evacuation stairs + SG “1.5m in width”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Cross-lingual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“how wide should escape stairs be”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SG Fire Code clause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Natural language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“Can gas pipes run in a residential stairwell?”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gas-pipe clause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Concrete scene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“Exits needed for an underground car park?”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car park + exit clauses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Indirect / alias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“room at a corridor dead-end”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dead-end-room clause</a:t>
                      </a:r>
                      <a:endParaRPr sz="13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This Week ② — How Well Does It Work? (Measured honestly)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55555"/>
                </a:solidFill>
                <a:latin typeface="Calibri" panose="020F0502020204030204"/>
              </a:rPr>
              <a:t>How we tested: 63 questions — 55 that the knowledge base should answer, plus 8 on topics it does NOT cover (to verify it won't fabricate answers). “Clause” means the exact regulation sentence.</a:t>
            </a:r>
            <a:endParaRPr sz="1500" b="1">
              <a:solidFill>
                <a:srgbClr val="555555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01952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6692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Metric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What it means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 (55 questions)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P@1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The very first result is the correct clause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67%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P@3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The correct clause appears somewhere in the first 3 results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84%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Recall@3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Share of the clauses that should be found that actually were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84%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F1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One combined score of accuracy and completeness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75%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Document-level (looser test)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Only the right document was found — the exact clause may be wrong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91%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3484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Calibri" panose="020F0502020204030204"/>
              </a:rPr>
              <a:t>Finding the document ≠ finding the clause</a:t>
            </a:r>
            <a:endParaRPr sz="15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• 91% only means the right code book was found (e.g. GB 55037); 67% means the exact sentence. 67% is the honest number.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093207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Calibri" panose="020F0502020204030204"/>
              </a:rPr>
              <a:t>Not a replacement for keyword search</a:t>
            </a:r>
            <a:endParaRPr sz="15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• A standard keyword method (BM25) scored 71%, close to ours. Semantic search wins on synonyms, cross-language and natural wording — so we keep both.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751575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Calibri" panose="020F0502020204030204"/>
              </a:rPr>
              <a:t>Anti-fabrication guard</a:t>
            </a:r>
            <a:endParaRPr sz="15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• On the 8 questions outside the knowledge base, confident-but-wrong answers fell from 8/8 to 4/8, and no correct answer was ever blocked (0/55).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6B3C"/>
                </a:solidFill>
                <a:latin typeface="Calibri" panose="020F0502020204030204"/>
              </a:rPr>
              <a:t>Bottom line: 67% / 84% / 84% — accurate and honest, nothing inflated.</a:t>
            </a:r>
            <a:endParaRPr sz="18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Limitations &amp; Next Steps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03030"/>
                </a:solidFill>
                <a:latin typeface="Calibri" panose="020F0502020204030204"/>
              </a:rPr>
              <a:t>Hard queries (paraphrase / aliases / indirect)</a:t>
            </a:r>
            <a:endParaRPr sz="2200" b="1">
              <a:solidFill>
                <a:srgbClr val="B03030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B03030"/>
                </a:solidFill>
                <a:latin typeface="Calibri" panose="020F0502020204030204"/>
              </a:rPr>
              <a:t>• clause hit rate 45%</a:t>
            </a:r>
            <a:endParaRPr sz="1900" b="0">
              <a:solidFill>
                <a:srgbClr val="B0303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060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03030"/>
                </a:solidFill>
                <a:latin typeface="Calibri" panose="020F0502020204030204"/>
              </a:rPr>
              <a:t>Cross-code composite queries (CN + SG in one question)</a:t>
            </a:r>
            <a:endParaRPr sz="2200" b="1">
              <a:solidFill>
                <a:srgbClr val="B03030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B03030"/>
                </a:solidFill>
                <a:latin typeface="Calibri" panose="020F0502020204030204"/>
              </a:rPr>
              <a:t>• recovery rate 33%</a:t>
            </a:r>
            <a:endParaRPr sz="1900" b="0">
              <a:solidFill>
                <a:srgbClr val="B03030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3A5F"/>
                </a:solidFill>
                <a:latin typeface="Calibri" panose="020F0502020204030204"/>
              </a:rPr>
              <a:t>Next</a:t>
            </a:r>
            <a:endParaRPr sz="22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7731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1.  Attack hard queries: query rewriting / domain aliases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34009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2.  Cross-code retrieval: route by CN / SG, or split the query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907023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3.  Stronger guard: top1−top2 score margin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647395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4.  Grow the gold standard as the knowledge base grows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6B3C"/>
                </a:solidFill>
                <a:latin typeface="Calibri" panose="020F0502020204030204"/>
              </a:rPr>
              <a:t>Semantic search now understands instead of just matching — verified with trustworthy numbers.</a:t>
            </a:r>
            <a:endParaRPr sz="18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828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 panose="020F0502020204030204"/>
              </a:rPr>
              <a:t>The Road to Production-Ready Compliance Checking</a:t>
            </a:r>
            <a:endParaRPr sz="4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160" y="3017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555555"/>
                </a:solidFill>
                <a:latin typeface="Calibri" panose="020F0502020204030204"/>
              </a:rPr>
              <a:t>A 6-tier industry-standard roadmap · progress &amp; next steps</a:t>
            </a:r>
            <a:endParaRPr sz="2400" b="1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160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55555"/>
                </a:solidFill>
                <a:latin typeface="Calibri" panose="020F0502020204030204"/>
              </a:rPr>
              <a:t>ArchCheck · 2026-08-25</a:t>
            </a:r>
            <a:endParaRPr sz="18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The Roadmap at a Glance — 6 Tiers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1475" y="1463040"/>
          <a:ext cx="11459845" cy="40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/>
                <a:gridCol w="4215765"/>
                <a:gridCol w="3654425"/>
                <a:gridCol w="1284605"/>
              </a:tblGrid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Tier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Done (this week)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 (next)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Progress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 · IFC reading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spaces · doors · structure · MEP · electrical read; exact area / volume / material; mixed-unit fix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connections · distribution systems · openings · quantity sets · profile shapes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~70%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 · Quality validation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QA 4 checks (units / spaces / geometry / boundaries); honest “not checked / area unknown”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IDS parser + semantic validation (missing attributes, wrong classification)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~40%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3 · Geometry &amp; quantities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exact area (triangle projection) · exact volume · material take-off · basic clash pre-check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boolean operations (CSG kernel) · swept solids · exact sections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~85%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4 · Clash &amp; coordination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MEP vs structure bbox + point-in-mesh confirmation (real vs bbox noise)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full-discipline clash · clear-height checks · grading (hard / soft / clearance)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early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· Rules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disciplines · 16 rules (CN + SG) · clause → rule tool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16 → 50+ (fire / egress / MEP) · context &amp; exceptions · cross-rule linkage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~15%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6 · Delivery &amp; trust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2.1 · COBie CSV · HTML/Excel/PNG · 4 samples run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viewpoints · fuller COBie · IFC with annotations · 10+ real projects · benchmark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~35%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9435" y="57861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 panose="020F0502020204030204"/>
              </a:rPr>
              <a:t>Foundation built: precise geometry + real samples + multi-discipline rules + delivery formats — now we build up.</a:t>
            </a:r>
            <a:endParaRPr sz="2000" b="1">
              <a:solidFill>
                <a:srgbClr val="1F3A5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  <a:latin typeface="Calibri" panose="020F0502020204030204"/>
              </a:rPr>
              <a:t>This Week's Breakthrough — Precise Geometry &amp; Quantities (Tier ③)</a:t>
            </a:r>
            <a:endParaRPr sz="27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area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triangle projection replaces convex hull — L-shaped room 36 → 27 m², no over-estimate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volume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signed-tetrahedron — office_3f slab 96.9 m³ · Schependomlaan structural total 287.4 m³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328416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Material &amp; quantity take-off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per-material volume + per-type counts → “structural quantities by material”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261104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Mixed-unit repair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models declared in mm but modelled in metres auto-corrected (Schependomlaan)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193792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Basic clash pre-check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MEP vs structure bbox + point-in-mesh confirmation — real penetration, not bbox noise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236207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6B3C"/>
                </a:solidFill>
                <a:latin typeface="Calibri" panose="020F0502020204030204"/>
              </a:rPr>
              <a:t>Unlocks what's downstream: quantities, clash detection, clear-height checks — all depend on real geometry.</a:t>
            </a:r>
            <a:endParaRPr sz="18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Where We Stand — Done vs Still Open (honest)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E6B3C"/>
                </a:solidFill>
                <a:latin typeface="Calibri" panose="020F0502020204030204"/>
              </a:rPr>
              <a:t>Already in place</a:t>
            </a:r>
            <a:endParaRPr sz="2100" b="1">
              <a:solidFill>
                <a:srgbClr val="1E6B3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5-discipline rule engine (CN + SG)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BCF 2.1 / COBie export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1912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Clause → machine-rule tooling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758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Semantic knowledge-base search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3251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Precise geometry, volumes, materials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Real samples: Duplex_MEP, Schependomlaan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B03030"/>
                </a:solidFill>
                <a:latin typeface="Calibri" panose="020F0502020204030204"/>
              </a:rPr>
              <a:t>Still open (flagged, not hidden)</a:t>
            </a:r>
            <a:endParaRPr sz="2100" b="1">
              <a:solidFill>
                <a:srgbClr val="B03030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Boolean operations (openings) — needs CSG kernel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26243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IDS-based quality validation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31912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Rule volume: 16 → hundreds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3758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Full-discipline clash + clear-height checks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43251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BCF viewpoints · full COBie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Scale benchmark vs commercial tools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55555"/>
                </a:solidFill>
                <a:latin typeface="Calibri" panose="020F0502020204030204"/>
              </a:rPr>
              <a:t>Everything we can't do yet is stated explicitly — no silent omissions.</a:t>
            </a:r>
            <a:endParaRPr sz="18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Next Steps — Prioritised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607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949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Priority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Action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Effort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Rule expansion: 16 → 50+, fire / egress / MEP first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2–3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IDS quality checking (subset parser)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1–2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3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Clash deepening: full-discipline + clear-height + grading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4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Delivery: BCF viewpoints · fuller COBie · 10+ real projects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1–2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 panose="020F0502020204030204"/>
              </a:rPr>
              <a:t>Long-term hard items</a:t>
            </a:r>
            <a:endParaRPr sz="2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• Boolean operations (CSG kernel)  ·  full rule coverage  ·  benchmark vs commercial tools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6B3C"/>
                </a:solidFill>
                <a:latin typeface="Calibri" panose="020F0502020204030204"/>
              </a:rPr>
              <a:t>Foundation is built — next is rule volume, IDS validation, and clash depth.</a:t>
            </a:r>
            <a:endParaRPr sz="20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5919</Words>
  <Application>WPS 演示</Application>
  <PresentationFormat>On-screen Show (4:3)</PresentationFormat>
  <Paragraphs>309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2</cp:revision>
  <dcterms:created xsi:type="dcterms:W3CDTF">2013-01-27T09:14:00Z</dcterms:created>
  <dcterms:modified xsi:type="dcterms:W3CDTF">2026-08-25T10:07:34Z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C0F3439CDEB04FE688D216F52DA564B2_12</vt:lpwstr>
  </property>
</Properties>
</file>